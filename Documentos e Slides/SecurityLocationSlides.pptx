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62" r:id="rId11"/>
    <p:sldId id="272" r:id="rId12"/>
    <p:sldId id="263" r:id="rId13"/>
    <p:sldId id="264" r:id="rId14"/>
    <p:sldId id="273" r:id="rId15"/>
    <p:sldId id="274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471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78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83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8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04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082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1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913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4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451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5387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632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79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138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688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31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60BB5-7FEB-4232-A376-39F8BF6C37C1}" type="datetimeFigureOut">
              <a:rPr lang="pt-BR" smtClean="0"/>
              <a:t>18/12/2019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DABC3E5-2381-4318-A05B-BBD0F424F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1770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5AF9B40E-3F6A-4747-9430-14504026702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5188" y="3500438"/>
            <a:ext cx="7854950" cy="792162"/>
          </a:xfrm>
          <a:ln>
            <a:miter lim="800000"/>
            <a:headEnd/>
            <a:tailEnd/>
          </a:ln>
        </p:spPr>
        <p:txBody>
          <a:bodyPr>
            <a:noAutofit/>
          </a:bodyPr>
          <a:lstStyle/>
          <a:p>
            <a:pPr>
              <a:defRPr/>
            </a:pPr>
            <a:br>
              <a:rPr lang="pt-BR" sz="4800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</a:rPr>
            </a:br>
            <a:br>
              <a:rPr lang="pt-BR" sz="4800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</a:rPr>
            </a:br>
            <a:r>
              <a:rPr lang="pt-BR" sz="4800" dirty="0">
                <a:latin typeface="Times New Roman" pitchFamily="18" charset="0"/>
              </a:rPr>
              <a:t>Security </a:t>
            </a:r>
            <a:r>
              <a:rPr lang="pt-BR" sz="4800" dirty="0" err="1">
                <a:latin typeface="Times New Roman" pitchFamily="18" charset="0"/>
              </a:rPr>
              <a:t>Location</a:t>
            </a:r>
            <a:endParaRPr lang="pt-BR" sz="4800" dirty="0">
              <a:latin typeface="Times New Roman" pitchFamily="18" charset="0"/>
            </a:endParaRPr>
          </a:p>
        </p:txBody>
      </p:sp>
      <p:sp>
        <p:nvSpPr>
          <p:cNvPr id="16387" name="CaixaDeTexto 1">
            <a:extLst>
              <a:ext uri="{FF2B5EF4-FFF2-40B4-BE49-F238E27FC236}">
                <a16:creationId xmlns:a16="http://schemas.microsoft.com/office/drawing/2014/main" id="{525F4DC7-23F4-46C0-9326-0F998FC4F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5334000"/>
            <a:ext cx="79930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pt-BR" altLang="pt-BR" dirty="0"/>
              <a:t>Aluno: Igor Leonardo</a:t>
            </a:r>
          </a:p>
          <a:p>
            <a:pPr eaLnBrk="1" hangingPunct="1"/>
            <a:r>
              <a:rPr lang="pt-BR" altLang="pt-BR" dirty="0"/>
              <a:t>Orientador: Carlos Eduardo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26C792-C867-405A-A339-EF477D908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74" y="223323"/>
            <a:ext cx="5406904" cy="32056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0992115-011E-4ED8-AAC0-0B9A287DD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INTRODUÇÃO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1" name="Line 6">
            <a:extLst>
              <a:ext uri="{FF2B5EF4-FFF2-40B4-BE49-F238E27FC236}">
                <a16:creationId xmlns:a16="http://schemas.microsoft.com/office/drawing/2014/main" id="{FD824629-850D-42C6-B5B2-A7737B0835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685800"/>
            <a:ext cx="7391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7412" name="Rectangle 26">
            <a:extLst>
              <a:ext uri="{FF2B5EF4-FFF2-40B4-BE49-F238E27FC236}">
                <a16:creationId xmlns:a16="http://schemas.microsoft.com/office/drawing/2014/main" id="{0CBB2B91-22BE-43EB-ACD5-30D8F93A7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125538"/>
            <a:ext cx="9144000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pt-BR" altLang="pt-BR" dirty="0"/>
              <a:t>A aplicação Security </a:t>
            </a:r>
            <a:r>
              <a:rPr lang="pt-BR" altLang="pt-BR" dirty="0" err="1"/>
              <a:t>Location</a:t>
            </a:r>
            <a:r>
              <a:rPr lang="pt-BR" altLang="pt-BR" dirty="0"/>
              <a:t> foi criada a partir da necessidade de verificar, de acordo com a região(por bairro especificamente), a quantidade de ocorrências que afetam a população de modo a pôr em risco sua segurança, para que assim seja possível identificar se aquela região é segura ou não.</a:t>
            </a:r>
          </a:p>
          <a:p>
            <a:endParaRPr lang="pt-BR" alt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0FF43ED-B2E6-4DCC-9CB5-B3A13BA12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PROBLEMÁTICA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35" name="Line 6">
            <a:extLst>
              <a:ext uri="{FF2B5EF4-FFF2-40B4-BE49-F238E27FC236}">
                <a16:creationId xmlns:a16="http://schemas.microsoft.com/office/drawing/2014/main" id="{0C5B6157-14DC-4335-971A-26E4645F33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685800"/>
            <a:ext cx="7391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36" name="Rectangle 26">
            <a:extLst>
              <a:ext uri="{FF2B5EF4-FFF2-40B4-BE49-F238E27FC236}">
                <a16:creationId xmlns:a16="http://schemas.microsoft.com/office/drawing/2014/main" id="{8D78FB6E-CDAD-4BBE-A847-52075FB9F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125539"/>
            <a:ext cx="9144000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pt-BR" altLang="pt-BR" dirty="0"/>
              <a:t>Dia após dia, simplesmente andar pela rua se torna um ato perigoso, pois a quantidade de assaltos, furtos e outras ocorrências, continuam acontecendo constantemente. Pessoas que não conhecem a região que estão de passagem, podem ser vitimas mais fáceis, por não conhecerem o nível de segurança da região.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D7A45C0-919E-4D73-BFFF-A31B8DD6C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 OBJETIVOS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59" name="Line 6">
            <a:extLst>
              <a:ext uri="{FF2B5EF4-FFF2-40B4-BE49-F238E27FC236}">
                <a16:creationId xmlns:a16="http://schemas.microsoft.com/office/drawing/2014/main" id="{4E10BBF0-8ADD-442C-9B0B-E4E81D9AD8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685800"/>
            <a:ext cx="73914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292" name="Rectangle 30">
            <a:extLst>
              <a:ext uri="{FF2B5EF4-FFF2-40B4-BE49-F238E27FC236}">
                <a16:creationId xmlns:a16="http://schemas.microsoft.com/office/drawing/2014/main" id="{65880A7D-DE76-47D5-BA42-C836B2349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925" y="1125538"/>
            <a:ext cx="8858250" cy="4647426"/>
          </a:xfrm>
          <a:prstGeom prst="rect">
            <a:avLst/>
          </a:prstGeom>
          <a:noFill/>
          <a:ln>
            <a:noFill/>
          </a:ln>
        </p:spPr>
        <p:txBody>
          <a:bodyPr tIns="0" bIns="0">
            <a:spAutoFit/>
          </a:bodyPr>
          <a:lstStyle/>
          <a:p>
            <a:pPr eaLnBrk="1" hangingPunct="1">
              <a:defRPr/>
            </a:pPr>
            <a:endParaRPr lang="pt-BR" sz="1600" dirty="0"/>
          </a:p>
          <a:p>
            <a:pPr algn="just">
              <a:defRPr/>
            </a:pPr>
            <a:r>
              <a:rPr lang="pt-BR" b="1" dirty="0"/>
              <a:t>1.2.1 Objetivo Geral</a:t>
            </a:r>
          </a:p>
          <a:p>
            <a:pPr algn="just">
              <a:defRPr/>
            </a:pPr>
            <a:endParaRPr lang="pt-BR" b="1" dirty="0"/>
          </a:p>
          <a:p>
            <a:pPr algn="just">
              <a:defRPr/>
            </a:pPr>
            <a:r>
              <a:rPr lang="pt-BR" b="1" dirty="0"/>
              <a:t>Informar ao usuário da aplicação, os locais em que ocorrências que podem vir a por em risco sua segurança aconteceram, além de também poder registrar uma ocorrência, caso seja necessário.</a:t>
            </a:r>
          </a:p>
          <a:p>
            <a:pPr algn="just">
              <a:defRPr/>
            </a:pPr>
            <a:endParaRPr lang="pt-BR" dirty="0"/>
          </a:p>
          <a:p>
            <a:pPr algn="just">
              <a:defRPr/>
            </a:pPr>
            <a:endParaRPr lang="pt-BR" dirty="0"/>
          </a:p>
          <a:p>
            <a:pPr algn="just">
              <a:defRPr/>
            </a:pPr>
            <a:endParaRPr lang="pt-BR" dirty="0"/>
          </a:p>
          <a:p>
            <a:pPr algn="just">
              <a:defRPr/>
            </a:pPr>
            <a:r>
              <a:rPr lang="pt-BR" b="1" dirty="0"/>
              <a:t>1.2.2 Objetivos Específicos</a:t>
            </a:r>
          </a:p>
          <a:p>
            <a:pPr algn="just">
              <a:defRPr/>
            </a:pPr>
            <a:endParaRPr lang="pt-BR" b="1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b="1" dirty="0"/>
              <a:t>Cadastrar ocorrências que acontecem em determinado local;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b="1" dirty="0"/>
              <a:t>Informar essas ocorrências de acordo com o bairro;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b="1" dirty="0"/>
              <a:t>Mostrar num gráfico a quantidade de ocorrências registradas por bairro;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b="1" dirty="0"/>
              <a:t>Diminuir a quantidade de ocorrências que acontecem por região;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b="1" dirty="0"/>
              <a:t>Informar turistas sobre locais em que devem ter uma maior atenção;</a:t>
            </a:r>
            <a:endParaRPr lang="en-US" b="1" dirty="0"/>
          </a:p>
          <a:p>
            <a:pPr>
              <a:buFontTx/>
              <a:buChar char="•"/>
              <a:defRPr/>
            </a:pPr>
            <a:endParaRPr lang="pt-BR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B8F0F99-ECA7-4DEC-86ED-F1EEC3757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FERRAMENTAS USADAS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483" name="Rectangle 26">
            <a:extLst>
              <a:ext uri="{FF2B5EF4-FFF2-40B4-BE49-F238E27FC236}">
                <a16:creationId xmlns:a16="http://schemas.microsoft.com/office/drawing/2014/main" id="{F1396D8B-964C-41E1-9628-2B9104DB3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13316" name="Rectangle 28">
            <a:extLst>
              <a:ext uri="{FF2B5EF4-FFF2-40B4-BE49-F238E27FC236}">
                <a16:creationId xmlns:a16="http://schemas.microsoft.com/office/drawing/2014/main" id="{77D7E228-258B-4F24-8E36-4DF46A3C3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946150"/>
            <a:ext cx="8153400" cy="563231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b="1" dirty="0"/>
              <a:t>2.1 Angular </a:t>
            </a:r>
            <a:endParaRPr lang="pt-BR" b="1" dirty="0">
              <a:solidFill>
                <a:srgbClr val="FF0000"/>
              </a:solidFill>
            </a:endParaRPr>
          </a:p>
          <a:p>
            <a:pPr algn="just"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O angular é uma plataforma e framework para a construção da interface de aplicações, usando HTML, CSS e, principalmente </a:t>
            </a:r>
            <a:r>
              <a:rPr lang="pt-BR" dirty="0" err="1"/>
              <a:t>JavaScript</a:t>
            </a:r>
            <a:r>
              <a:rPr lang="pt-BR" dirty="0"/>
              <a:t>, criada pelos desenvolvedores da Google;</a:t>
            </a:r>
          </a:p>
          <a:p>
            <a:pPr algn="just"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O angular é utilizado para a criação de aplicações Web e mobile, sendo um framework de fácil compreensão e interação com o desenvolvedor;</a:t>
            </a:r>
          </a:p>
          <a:p>
            <a:pPr algn="just"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A ferramenta foi utilizada em toda a criação do projeto sendo a responsável pela interface e todo o front-</a:t>
            </a:r>
            <a:r>
              <a:rPr lang="pt-BR" dirty="0" err="1"/>
              <a:t>end</a:t>
            </a:r>
            <a:r>
              <a:rPr lang="pt-BR" dirty="0"/>
              <a:t>, utilizando ferramentas integradas como CSS e </a:t>
            </a:r>
            <a:r>
              <a:rPr lang="pt-BR" dirty="0" err="1"/>
              <a:t>Bootstrap</a:t>
            </a:r>
            <a:r>
              <a:rPr lang="pt-BR" dirty="0"/>
              <a:t>;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Ferramenta utilizada para a construção do site da NBA(nba.com) na parte do desenvolvimento front-</a:t>
            </a:r>
            <a:r>
              <a:rPr lang="pt-BR" dirty="0" err="1"/>
              <a:t>end</a:t>
            </a:r>
            <a:r>
              <a:rPr lang="pt-BR" dirty="0"/>
              <a:t>; </a:t>
            </a:r>
          </a:p>
          <a:p>
            <a:pPr algn="just"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Utilizada também na criação do site do centro de empreendedorismo do Itaú o Cubo(</a:t>
            </a:r>
            <a:r>
              <a:rPr lang="pt-BR" dirty="0" err="1"/>
              <a:t>cubo.network</a:t>
            </a:r>
            <a:r>
              <a:rPr lang="pt-BR" dirty="0"/>
              <a:t>).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91E0FD9-3E5D-4AB0-A695-BD135701F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0" y="-56270"/>
            <a:ext cx="238125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CC0877E-376F-4287-8D68-B196EF2B6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Ferramentas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usadas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7" name="Rectangle 26">
            <a:extLst>
              <a:ext uri="{FF2B5EF4-FFF2-40B4-BE49-F238E27FC236}">
                <a16:creationId xmlns:a16="http://schemas.microsoft.com/office/drawing/2014/main" id="{281B91C9-F626-4AA4-BAAF-5BA4EA809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13316" name="Rectangle 28">
            <a:extLst>
              <a:ext uri="{FF2B5EF4-FFF2-40B4-BE49-F238E27FC236}">
                <a16:creationId xmlns:a16="http://schemas.microsoft.com/office/drawing/2014/main" id="{7BF16F6A-16DF-4A5A-AECE-4B3F520D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946151"/>
            <a:ext cx="8153400" cy="42473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b="1" dirty="0"/>
              <a:t>2.2 Node.js</a:t>
            </a:r>
            <a:endParaRPr lang="pt-BR" b="1" dirty="0">
              <a:solidFill>
                <a:srgbClr val="FF0000"/>
              </a:solidFill>
            </a:endParaRPr>
          </a:p>
          <a:p>
            <a:pPr algn="just"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Node.js é um interpretador de </a:t>
            </a:r>
            <a:r>
              <a:rPr lang="pt-BR" dirty="0" err="1"/>
              <a:t>JavaScript</a:t>
            </a:r>
            <a:r>
              <a:rPr lang="pt-BR" dirty="0"/>
              <a:t> Assíncrono com código open </a:t>
            </a:r>
            <a:r>
              <a:rPr lang="pt-BR" dirty="0" err="1"/>
              <a:t>source</a:t>
            </a:r>
            <a:r>
              <a:rPr lang="pt-BR" dirty="0"/>
              <a:t> orientado a eventos, criado por Ryan Dahl, focado em migrar a programação </a:t>
            </a:r>
            <a:r>
              <a:rPr lang="pt-BR" dirty="0" err="1"/>
              <a:t>JavaScript</a:t>
            </a:r>
            <a:r>
              <a:rPr lang="pt-BR" dirty="0"/>
              <a:t> do cliente para o servidor.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Ferramenta que tem como objetivo interpretar o código </a:t>
            </a:r>
            <a:r>
              <a:rPr lang="pt-BR" dirty="0" err="1"/>
              <a:t>JavaScript</a:t>
            </a:r>
            <a:r>
              <a:rPr lang="pt-BR" dirty="0"/>
              <a:t> e o manipular de forma assíncrona.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Cria aplicações de alta escalabilidade, manipulando milhares de conexões/eventos simultaneamente em tempo real, a partir de uma única máquina física.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Ferramenta utilizada em grandes aplicações como Netflix, devido ao grande número de conexões/eventos simultâneos que pode manipular.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A Uber é outra grande empresa que utiliza a ferramenta, por conta da performance que ela atinge.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689FCC1-48D8-4E17-A606-7DF29AD84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5663" y="127241"/>
            <a:ext cx="2205038" cy="1349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CC0877E-376F-4287-8D68-B196EF2B6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Ferramentas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usadas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7" name="Rectangle 26">
            <a:extLst>
              <a:ext uri="{FF2B5EF4-FFF2-40B4-BE49-F238E27FC236}">
                <a16:creationId xmlns:a16="http://schemas.microsoft.com/office/drawing/2014/main" id="{281B91C9-F626-4AA4-BAAF-5BA4EA809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13316" name="Rectangle 28">
            <a:extLst>
              <a:ext uri="{FF2B5EF4-FFF2-40B4-BE49-F238E27FC236}">
                <a16:creationId xmlns:a16="http://schemas.microsoft.com/office/drawing/2014/main" id="{7BF16F6A-16DF-4A5A-AECE-4B3F520D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946151"/>
            <a:ext cx="8153400" cy="31393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b="1" dirty="0"/>
              <a:t>2.3 </a:t>
            </a:r>
            <a:r>
              <a:rPr lang="pt-BR" b="1" dirty="0" err="1"/>
              <a:t>Firebase</a:t>
            </a:r>
            <a:endParaRPr lang="pt-BR" b="1" dirty="0">
              <a:solidFill>
                <a:srgbClr val="FF0000"/>
              </a:solidFill>
            </a:endParaRPr>
          </a:p>
          <a:p>
            <a:pPr algn="just"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O </a:t>
            </a:r>
            <a:r>
              <a:rPr lang="pt-BR" dirty="0" err="1"/>
              <a:t>firebase</a:t>
            </a:r>
            <a:r>
              <a:rPr lang="pt-BR" dirty="0"/>
              <a:t> é um </a:t>
            </a:r>
            <a:r>
              <a:rPr lang="pt-BR" dirty="0" err="1"/>
              <a:t>Baas</a:t>
            </a:r>
            <a:r>
              <a:rPr lang="pt-BR" dirty="0"/>
              <a:t>(</a:t>
            </a:r>
            <a:r>
              <a:rPr lang="pt-BR" dirty="0" err="1"/>
              <a:t>Backend</a:t>
            </a:r>
            <a:r>
              <a:rPr lang="pt-BR" dirty="0"/>
              <a:t> as a Service) para aplicações web e mobile, criado pela Google em 2004.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Para a aplicação em questão, foi o utilizada a função </a:t>
            </a:r>
            <a:r>
              <a:rPr lang="pt-BR" dirty="0" err="1"/>
              <a:t>Realtime</a:t>
            </a:r>
            <a:r>
              <a:rPr lang="pt-BR" dirty="0"/>
              <a:t> </a:t>
            </a:r>
            <a:r>
              <a:rPr lang="pt-BR" dirty="0" err="1"/>
              <a:t>Database</a:t>
            </a:r>
            <a:r>
              <a:rPr lang="pt-BR" dirty="0"/>
              <a:t> do </a:t>
            </a:r>
            <a:r>
              <a:rPr lang="pt-BR" dirty="0" err="1"/>
              <a:t>Firebase</a:t>
            </a:r>
            <a:r>
              <a:rPr lang="pt-BR" dirty="0"/>
              <a:t>, que trabalha como um banco de dados em tempo real, qualquer alteração na aplicação é automática no banco.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Utilizado para armazenar os dados gerados na aplicação e para enviá-los para a mesma quando requisitado, tudo em tempo real, não sendo necessário atualizar a página.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62D178D-F825-4FBD-B85B-1B6B15271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287" y="229721"/>
            <a:ext cx="2834611" cy="1452738"/>
          </a:xfrm>
          <a:prstGeom prst="rect">
            <a:avLst/>
          </a:prstGeom>
        </p:spPr>
      </p:pic>
      <p:sp>
        <p:nvSpPr>
          <p:cNvPr id="8" name="Rectangle 28">
            <a:extLst>
              <a:ext uri="{FF2B5EF4-FFF2-40B4-BE49-F238E27FC236}">
                <a16:creationId xmlns:a16="http://schemas.microsoft.com/office/drawing/2014/main" id="{0BF44DA5-2F54-4981-9C79-E6F5511BF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147584"/>
            <a:ext cx="815340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b="1" dirty="0"/>
              <a:t>2.4 GitHub</a:t>
            </a:r>
          </a:p>
          <a:p>
            <a:pPr algn="just"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Ferramenta utilizada para armazenar projetos open </a:t>
            </a:r>
            <a:r>
              <a:rPr lang="pt-BR" dirty="0" err="1"/>
              <a:t>source</a:t>
            </a:r>
            <a:r>
              <a:rPr lang="pt-BR" dirty="0"/>
              <a:t> ou não, sendo necessário apenas criar uma conta e configurá-lo.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Utilizado para todo o armazenamento de código e Documentação do Projeto num repositório.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09EA846-0384-4875-AFB2-CFE2F8B42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038" y="4119909"/>
            <a:ext cx="2441111" cy="90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24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CC0877E-376F-4287-8D68-B196EF2B6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Ferramentas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usadas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7" name="Rectangle 26">
            <a:extLst>
              <a:ext uri="{FF2B5EF4-FFF2-40B4-BE49-F238E27FC236}">
                <a16:creationId xmlns:a16="http://schemas.microsoft.com/office/drawing/2014/main" id="{281B91C9-F626-4AA4-BAAF-5BA4EA809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13316" name="Rectangle 28">
            <a:extLst>
              <a:ext uri="{FF2B5EF4-FFF2-40B4-BE49-F238E27FC236}">
                <a16:creationId xmlns:a16="http://schemas.microsoft.com/office/drawing/2014/main" id="{7BF16F6A-16DF-4A5A-AECE-4B3F520D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946151"/>
            <a:ext cx="815340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b="1" dirty="0"/>
              <a:t>2.5 </a:t>
            </a: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Bash</a:t>
            </a:r>
            <a:endParaRPr lang="pt-BR" b="1" dirty="0">
              <a:solidFill>
                <a:srgbClr val="FF0000"/>
              </a:solidFill>
            </a:endParaRPr>
          </a:p>
          <a:p>
            <a:pPr algn="just"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Ferramenta utilizada para a integração entre o código editado localmente para ser enviado ao servidor de armazenamento do projeto(GitHub).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Fácil interação e configuração.</a:t>
            </a:r>
          </a:p>
        </p:txBody>
      </p:sp>
      <p:sp>
        <p:nvSpPr>
          <p:cNvPr id="8" name="Rectangle 28">
            <a:extLst>
              <a:ext uri="{FF2B5EF4-FFF2-40B4-BE49-F238E27FC236}">
                <a16:creationId xmlns:a16="http://schemas.microsoft.com/office/drawing/2014/main" id="{0BF44DA5-2F54-4981-9C79-E6F5511BF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815340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b="1" dirty="0"/>
              <a:t>2.6 Visual Studio</a:t>
            </a:r>
            <a:endParaRPr lang="pt-BR" b="1" dirty="0">
              <a:solidFill>
                <a:srgbClr val="FF0000"/>
              </a:solidFill>
            </a:endParaRPr>
          </a:p>
          <a:p>
            <a:pPr algn="just"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Ferramenta utilizada para a edição de código do projeto, sendo utilizado em sua total construção.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Utiliza diversos plugins que auxiliam no desenvolvimento se integrando as tecnologias usadas, se tornando quase uma IDE.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58D2E5-1CEE-4C85-B91C-22A67309C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2331" y="3160715"/>
            <a:ext cx="2441111" cy="19071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378D8CA-7C4E-4E38-B599-731364E9F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9129" y="396946"/>
            <a:ext cx="1687513" cy="168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75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CC0877E-376F-4287-8D68-B196EF2B6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Ferramentas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usadas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7" name="Rectangle 26">
            <a:extLst>
              <a:ext uri="{FF2B5EF4-FFF2-40B4-BE49-F238E27FC236}">
                <a16:creationId xmlns:a16="http://schemas.microsoft.com/office/drawing/2014/main" id="{281B91C9-F626-4AA4-BAAF-5BA4EA809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13316" name="Rectangle 28">
            <a:extLst>
              <a:ext uri="{FF2B5EF4-FFF2-40B4-BE49-F238E27FC236}">
                <a16:creationId xmlns:a16="http://schemas.microsoft.com/office/drawing/2014/main" id="{7BF16F6A-16DF-4A5A-AECE-4B3F520D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946151"/>
            <a:ext cx="81534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b="1" dirty="0"/>
              <a:t>2.5 </a:t>
            </a:r>
            <a:r>
              <a:rPr lang="pt-BR" b="1" dirty="0" err="1"/>
              <a:t>Heroku</a:t>
            </a:r>
            <a:endParaRPr lang="pt-BR" b="1" dirty="0">
              <a:solidFill>
                <a:srgbClr val="FF0000"/>
              </a:solidFill>
            </a:endParaRPr>
          </a:p>
          <a:p>
            <a:pPr algn="just">
              <a:defRPr/>
            </a:pPr>
            <a:endParaRPr lang="pt-BR" dirty="0"/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Ferramenta que é utilizada como servidor para a aplicação, podendo armazenar mais de uma aplicação por conta.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pt-BR" dirty="0"/>
              <a:t>De fácil configuração e </a:t>
            </a:r>
            <a:r>
              <a:rPr lang="pt-BR" dirty="0" err="1"/>
              <a:t>deploy</a:t>
            </a:r>
            <a:r>
              <a:rPr lang="pt-BR" dirty="0"/>
              <a:t> automático integrado ao </a:t>
            </a:r>
            <a:r>
              <a:rPr lang="pt-BR" dirty="0" err="1"/>
              <a:t>github</a:t>
            </a:r>
            <a:r>
              <a:rPr lang="pt-BR" dirty="0"/>
              <a:t>, ou seja ao enviar alterações ao </a:t>
            </a:r>
            <a:r>
              <a:rPr lang="pt-BR" dirty="0" err="1"/>
              <a:t>github</a:t>
            </a:r>
            <a:r>
              <a:rPr lang="pt-BR" dirty="0"/>
              <a:t>, automaticamente a aplicação é atualizada com as alterações.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BC734AA-88D0-4779-8299-213000AEA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44500"/>
            <a:ext cx="1237084" cy="123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83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B5E9BB0-D430-42F5-83C7-35160B6EB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7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Desenvolvimento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trabalho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531" name="Rectangle 26">
            <a:extLst>
              <a:ext uri="{FF2B5EF4-FFF2-40B4-BE49-F238E27FC236}">
                <a16:creationId xmlns:a16="http://schemas.microsoft.com/office/drawing/2014/main" id="{0482C10C-8C5C-4E2A-9051-A077AAD20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22532" name="Rectangle 28">
            <a:extLst>
              <a:ext uri="{FF2B5EF4-FFF2-40B4-BE49-F238E27FC236}">
                <a16:creationId xmlns:a16="http://schemas.microsoft.com/office/drawing/2014/main" id="{E0C18E34-CC9A-45B4-BCF4-0D4AF6625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098333"/>
            <a:ext cx="81534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Construção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Front </a:t>
            </a:r>
            <a:r>
              <a:rPr lang="pt-BR" altLang="pt-BR" dirty="0" err="1"/>
              <a:t>End</a:t>
            </a: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Back </a:t>
            </a:r>
            <a:r>
              <a:rPr lang="pt-BR" altLang="pt-BR" dirty="0" err="1"/>
              <a:t>End</a:t>
            </a: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Banco de Dados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algn="just"/>
            <a:r>
              <a:rPr lang="pt-BR" altLang="pt-BR" dirty="0"/>
              <a:t>	</a:t>
            </a:r>
          </a:p>
          <a:p>
            <a:pPr algn="just"/>
            <a:endParaRPr lang="pt-BR" alt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6">
            <a:extLst>
              <a:ext uri="{FF2B5EF4-FFF2-40B4-BE49-F238E27FC236}">
                <a16:creationId xmlns:a16="http://schemas.microsoft.com/office/drawing/2014/main" id="{0482C10C-8C5C-4E2A-9051-A077AAD20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22532" name="Rectangle 28">
            <a:extLst>
              <a:ext uri="{FF2B5EF4-FFF2-40B4-BE49-F238E27FC236}">
                <a16:creationId xmlns:a16="http://schemas.microsoft.com/office/drawing/2014/main" id="{E0C18E34-CC9A-45B4-BCF4-0D4AF6625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119693"/>
            <a:ext cx="81534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Integração com API do Google Maps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Armazenamento do Projeto</a:t>
            </a:r>
          </a:p>
          <a:p>
            <a:pPr algn="just"/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Hospedagem da Aplicação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Problemas no Desenvolvimento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algn="just"/>
            <a:r>
              <a:rPr lang="pt-BR" alt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98018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B5E9BB0-D430-42F5-83C7-35160B6EB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Ferramenta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criada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531" name="Rectangle 26">
            <a:extLst>
              <a:ext uri="{FF2B5EF4-FFF2-40B4-BE49-F238E27FC236}">
                <a16:creationId xmlns:a16="http://schemas.microsoft.com/office/drawing/2014/main" id="{0482C10C-8C5C-4E2A-9051-A077AAD20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22532" name="Rectangle 28">
            <a:extLst>
              <a:ext uri="{FF2B5EF4-FFF2-40B4-BE49-F238E27FC236}">
                <a16:creationId xmlns:a16="http://schemas.microsoft.com/office/drawing/2014/main" id="{E0C18E34-CC9A-45B4-BCF4-0D4AF6625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150541"/>
            <a:ext cx="3884103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Proposta</a:t>
            </a:r>
          </a:p>
          <a:p>
            <a:pPr algn="just"/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Objetivo</a:t>
            </a:r>
          </a:p>
          <a:p>
            <a:pPr algn="just"/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Telas da Aplicação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FAD1ED-71D9-4708-8432-0D5715081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251" y="1254790"/>
            <a:ext cx="7493153" cy="376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72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F019461-5858-423E-B961-2210E126F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Funcionalidades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555" name="Rectangle 26">
            <a:extLst>
              <a:ext uri="{FF2B5EF4-FFF2-40B4-BE49-F238E27FC236}">
                <a16:creationId xmlns:a16="http://schemas.microsoft.com/office/drawing/2014/main" id="{361D5E78-5075-4197-AA8B-097306D9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4FA2E3E-3BF7-4D01-A116-C63C98CA5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181" y="1854926"/>
            <a:ext cx="9371635" cy="4710223"/>
          </a:xfrm>
          <a:prstGeom prst="rect">
            <a:avLst/>
          </a:prstGeom>
        </p:spPr>
      </p:pic>
      <p:sp>
        <p:nvSpPr>
          <p:cNvPr id="6" name="Rectangle 28">
            <a:extLst>
              <a:ext uri="{FF2B5EF4-FFF2-40B4-BE49-F238E27FC236}">
                <a16:creationId xmlns:a16="http://schemas.microsoft.com/office/drawing/2014/main" id="{FDA598AA-26FA-463A-BD2B-B50F24EF7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292" y="1185769"/>
            <a:ext cx="40890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pt-BR" altLang="pt-BR" u="sng" dirty="0"/>
              <a:t>5.1 Cadastro de Ocorrência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F019461-5858-423E-B961-2210E126F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Funcionalidades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555" name="Rectangle 26">
            <a:extLst>
              <a:ext uri="{FF2B5EF4-FFF2-40B4-BE49-F238E27FC236}">
                <a16:creationId xmlns:a16="http://schemas.microsoft.com/office/drawing/2014/main" id="{361D5E78-5075-4197-AA8B-097306D9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23556" name="Rectangle 28">
            <a:extLst>
              <a:ext uri="{FF2B5EF4-FFF2-40B4-BE49-F238E27FC236}">
                <a16:creationId xmlns:a16="http://schemas.microsoft.com/office/drawing/2014/main" id="{92788F52-77B1-45E9-9357-2869212AE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0579" y="1173849"/>
            <a:ext cx="39604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pt-BR" altLang="pt-BR" u="sng" dirty="0"/>
              <a:t>5.2 Ver Ocorrência por Bairro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42C359-2C9E-4E00-BEBC-93C06AC2B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82" y="2206987"/>
            <a:ext cx="5733616" cy="288025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B7884E4-B185-42BB-BEAC-092229D4C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298" y="2196542"/>
            <a:ext cx="5733617" cy="289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36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F019461-5858-423E-B961-2210E126F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Funcionalidades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555" name="Rectangle 26">
            <a:extLst>
              <a:ext uri="{FF2B5EF4-FFF2-40B4-BE49-F238E27FC236}">
                <a16:creationId xmlns:a16="http://schemas.microsoft.com/office/drawing/2014/main" id="{361D5E78-5075-4197-AA8B-097306D9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23556" name="Rectangle 28">
            <a:extLst>
              <a:ext uri="{FF2B5EF4-FFF2-40B4-BE49-F238E27FC236}">
                <a16:creationId xmlns:a16="http://schemas.microsoft.com/office/drawing/2014/main" id="{92788F52-77B1-45E9-9357-2869212AE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918" y="1191265"/>
            <a:ext cx="35317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pt-BR" altLang="pt-BR" u="sng" dirty="0"/>
              <a:t>5.3 Gráfico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4C071F2-8E5A-48C9-AAAC-FC046BC03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814" y="1740009"/>
            <a:ext cx="9394372" cy="474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76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9DCFFF7-3882-4033-8ECB-EAC7EF8AD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7239000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CONCLUSÃO</a:t>
            </a:r>
            <a:endParaRPr lang="pt-B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03" name="Rectangle 26">
            <a:extLst>
              <a:ext uri="{FF2B5EF4-FFF2-40B4-BE49-F238E27FC236}">
                <a16:creationId xmlns:a16="http://schemas.microsoft.com/office/drawing/2014/main" id="{B83C34E7-1073-4E5A-8ECB-67DCA4AFD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65476"/>
            <a:ext cx="9144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600"/>
          </a:p>
        </p:txBody>
      </p:sp>
      <p:sp>
        <p:nvSpPr>
          <p:cNvPr id="25604" name="Rectangle 28">
            <a:extLst>
              <a:ext uri="{FF2B5EF4-FFF2-40B4-BE49-F238E27FC236}">
                <a16:creationId xmlns:a16="http://schemas.microsoft.com/office/drawing/2014/main" id="{EEBCD43E-0AB1-4280-AD66-506CE98C7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1949679"/>
            <a:ext cx="81534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Principais Utilidades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Praticidade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dirty="0"/>
              <a:t>Fácil Interação com o Usuário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411</TotalTime>
  <Words>795</Words>
  <Application>Microsoft Office PowerPoint</Application>
  <PresentationFormat>Widescreen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Comic Sans MS</vt:lpstr>
      <vt:lpstr>Times New Roman</vt:lpstr>
      <vt:lpstr>Wingdings 3</vt:lpstr>
      <vt:lpstr>Cacho</vt:lpstr>
      <vt:lpstr>  Security Location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Location</dc:title>
  <dc:creator>Igor Lima</dc:creator>
  <cp:lastModifiedBy>Igor Lima</cp:lastModifiedBy>
  <cp:revision>36</cp:revision>
  <dcterms:modified xsi:type="dcterms:W3CDTF">2019-12-19T00:34:32Z</dcterms:modified>
</cp:coreProperties>
</file>